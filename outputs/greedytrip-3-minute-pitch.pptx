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0c9588c6244913" /><Relationship Type="http://schemas.openxmlformats.org/officeDocument/2006/relationships/extended-properties" Target="/docProps/app.xml" Id="Rc418757a476c4bd9" /><Relationship Type="http://schemas.openxmlformats.org/officeDocument/2006/relationships/officeDocument" Target="/ppt/presentation.xml" Id="R3252482b6f0e44da" /></Relationships>
</file>

<file path=ppt/presentation.xml><?xml version="1.0" encoding="utf-8"?>
<p:presentation xmlns:p="http://schemas.openxmlformats.org/presentationml/2006/main">
  <p:sldMasterIdLst>
    <p:sldMasterId xmlns:r="http://schemas.openxmlformats.org/officeDocument/2006/relationships" id="2147483648" r:id="Rcc1fad9305fb4930"/>
  </p:sldMasterIdLst>
  <p:notesMasterIdLst>
    <p:notesMasterId xmlns:r="http://schemas.openxmlformats.org/officeDocument/2006/relationships" r:id="Rc38770f6917b4632"/>
  </p:notesMasterIdLst>
  <p:sldIdLst>
    <p:sldId xmlns:r="http://schemas.openxmlformats.org/officeDocument/2006/relationships" id="256" r:id="R167e4dff2f384439"/>
    <p:sldId xmlns:r="http://schemas.openxmlformats.org/officeDocument/2006/relationships" id="257" r:id="R20189923d51644b2"/>
    <p:sldId xmlns:r="http://schemas.openxmlformats.org/officeDocument/2006/relationships" id="258" r:id="R7a9b8d9e464d47a0"/>
    <p:sldId xmlns:r="http://schemas.openxmlformats.org/officeDocument/2006/relationships" id="259" r:id="Rd0aca31855184693"/>
    <p:sldId xmlns:r="http://schemas.openxmlformats.org/officeDocument/2006/relationships" id="260" r:id="R08fcf57b1e06495a"/>
    <p:sldId xmlns:r="http://schemas.openxmlformats.org/officeDocument/2006/relationships" id="261" r:id="Rc629ca578898412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f7ffd48e834bcc" /><Relationship Type="http://schemas.openxmlformats.org/officeDocument/2006/relationships/slideMaster" Target="/ppt/slideMasters/slideMaster1.xml" Id="Rcc1fad9305fb4930" /><Relationship Type="http://schemas.openxmlformats.org/officeDocument/2006/relationships/notesMaster" Target="/ppt/notesMasters/notesMaster1.xml" Id="Rc38770f6917b4632" /><Relationship Type="http://schemas.openxmlformats.org/officeDocument/2006/relationships/presProps" Target="/ppt/presProps.xml" Id="R4eecf716c79f491e" /><Relationship Type="http://schemas.openxmlformats.org/officeDocument/2006/relationships/tableStyles" Target="/ppt/tableStyles.xml" Id="Rb7ec660d20754e6c" /><Relationship Type="http://schemas.openxmlformats.org/officeDocument/2006/relationships/slide" Target="/ppt/slides/slide1.xml" Id="R167e4dff2f384439" /><Relationship Type="http://schemas.openxmlformats.org/officeDocument/2006/relationships/slide" Target="/ppt/slides/slide2.xml" Id="R20189923d51644b2" /><Relationship Type="http://schemas.openxmlformats.org/officeDocument/2006/relationships/slide" Target="/ppt/slides/slide3.xml" Id="R7a9b8d9e464d47a0" /><Relationship Type="http://schemas.openxmlformats.org/officeDocument/2006/relationships/slide" Target="/ppt/slides/slide4.xml" Id="Rd0aca31855184693" /><Relationship Type="http://schemas.openxmlformats.org/officeDocument/2006/relationships/slide" Target="/ppt/slides/slide5.xml" Id="R08fcf57b1e06495a" /><Relationship Type="http://schemas.openxmlformats.org/officeDocument/2006/relationships/slide" Target="/ppt/slides/slide6.xml" Id="Rc629ca57889841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4100630e334a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817f7b8bd84ddc" /><Relationship Type="http://schemas.openxmlformats.org/officeDocument/2006/relationships/notesMaster" Target="/ppt/notesMasters/notesMaster1.xml" Id="R369dc4f653dc4b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7798872c7943fd" /><Relationship Type="http://schemas.openxmlformats.org/officeDocument/2006/relationships/notesMaster" Target="/ppt/notesMasters/notesMaster1.xml" Id="R39fe108f0dc34f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fc8a6ed72040f5" /><Relationship Type="http://schemas.openxmlformats.org/officeDocument/2006/relationships/notesMaster" Target="/ppt/notesMasters/notesMaster1.xml" Id="Rf0f07bda9f4f43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b0cf6b55684d53" /><Relationship Type="http://schemas.openxmlformats.org/officeDocument/2006/relationships/notesMaster" Target="/ppt/notesMasters/notesMaster1.xml" Id="R084bdb2821b04e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135227e471495e" /><Relationship Type="http://schemas.openxmlformats.org/officeDocument/2006/relationships/notesMaster" Target="/ppt/notesMasters/notesMaster1.xml" Id="R4687ccaeb2724b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fcf472d66749f1" /><Relationship Type="http://schemas.openxmlformats.org/officeDocument/2006/relationships/notesMaster" Target="/ppt/notesMasters/notesMaster1.xml" Id="R00bb498a268447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a:t>
            </a:r>
          </a:p>
          <a:p xmlns:a="http://schemas.openxmlformats.org/drawingml/2006/main">
            <a:r>
              <a:t/>
            </a:r>
          </a:p>
          <a:p xmlns:a="http://schemas.openxmlformats.org/drawingml/2006/main">
            <a:r>
              <a:t>Hey everyone—quick question: where are you going after this hackathon? [Pause and look around.] Any plans?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0:15–0:45</a:t>
            </a:r>
          </a:p>
          <a:p xmlns:a="http://schemas.openxmlformats.org/drawingml/2006/main">
            <a:r>
              <a:t/>
            </a:r>
          </a:p>
          <a:p xmlns:a="http://schemas.openxmlformats.org/drawingml/2006/main">
            <a:r>
              <a:t>No idea? Exactly. Deciding where to go next can be surprisingly stressful. And even when we plan, the plan keeps changing. I honestly cannot remember a trip where we followed the itinerary exactly. Traffic happens, restaurants close, and sometimes a place is simply not as good as we expected.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0:45–1:05</a:t>
            </a:r>
          </a:p>
          <a:p xmlns:a="http://schemas.openxmlformats.org/drawingml/2006/main">
            <a:r>
              <a:t/>
            </a:r>
          </a:p>
          <a:p xmlns:a="http://schemas.openxmlformats.org/drawingml/2006/main">
            <a:r>
              <a:t>So why not travel the way greedy search works? Instead of optimizing an entire day, choose the best next move with what you know now. Then learn from what happens and recompute when reality changes. That is GreedyTrip.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1:05–1:30</a:t>
            </a:r>
          </a:p>
          <a:p xmlns:a="http://schemas.openxmlformats.org/drawingml/2006/main">
            <a:r>
              <a:t/>
            </a:r>
          </a:p>
          <a:p xmlns:a="http://schemas.openxmlformats.org/drawingml/2006/main">
            <a:r>
              <a:t>The architecture is deliberately separated. Bright Data builds the nearby frontier. Moss retrieves the preferences that matter for each place. Then GreedyTrip applies our deterministic utility function and picks exactly one winner. OpenAI only interprets language—it never ranks or selects destinations.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1:30–2:50 — PLAY THE 80-SECOND DEMO VIDEO</a:t>
            </a:r>
          </a:p>
          <a:p xmlns:a="http://schemas.openxmlformats.org/drawingml/2006/main">
            <a:r>
              <a:t/>
            </a:r>
          </a:p>
          <a:p xmlns:a="http://schemas.openxmlformats.org/drawingml/2006/main">
            <a:r>
              <a:t>Narration checkpoints:</a:t>
            </a:r>
          </a:p>
          <a:p xmlns:a="http://schemas.openxmlformats.org/drawingml/2006/main">
            <a:r>
              <a:t>1) Finish the four-question interview and show the first single recommendation.</a:t>
            </a:r>
          </a:p>
          <a:p xmlns:a="http://schemas.openxmlformats.org/drawingml/2006/main">
            <a:r>
              <a:t>2) Say: ‘That feels too touristy.’ Show Moss storing the preference and the deterministic ranking changing.</a:t>
            </a:r>
          </a:p>
          <a:p xmlns:a="http://schemas.openxmlformats.org/drawingml/2006/main">
            <a:r>
              <a:t>3) Move the simulated location and point out that GreedyTrip recomputes but stays silent below the intervention threshold.</a:t>
            </a:r>
          </a:p>
          <a:p xmlns:a="http://schemas.openxmlformats.org/drawingml/2006/main">
            <a:r>
              <a:t>4) Mark the current place unavailable and show the mandatory spoken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2:50–3:00</a:t>
            </a:r>
          </a:p>
          <a:p xmlns:a="http://schemas.openxmlformats.org/drawingml/2006/main">
            <a:r>
              <a:t/>
            </a:r>
          </a:p>
          <a:p xmlns:a="http://schemas.openxmlformats.org/drawingml/2006/main">
            <a:r>
              <a:t>So, where are you going next? GreedyTrip gives you one confident move—and adapts when reality changes. No itinerary. One best next move.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14fa742e8f4d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0b901787b64630" /><Relationship Type="http://schemas.openxmlformats.org/officeDocument/2006/relationships/slideLayout" Target="/ppt/slideLayouts/slideLayout1.xml" Id="R8238689bf06b44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38689bf06b44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476cd5dccd469b" /><Relationship Type="http://schemas.openxmlformats.org/officeDocument/2006/relationships/notesSlide" Target="/ppt/notesSlides/notesSlide1.xml" Id="R2506236771254b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de57426156a4483" /><Relationship Type="http://schemas.openxmlformats.org/officeDocument/2006/relationships/notesSlide" Target="/ppt/notesSlides/notesSlide2.xml" Id="R918a528736eb45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df617d778843a4" /><Relationship Type="http://schemas.openxmlformats.org/officeDocument/2006/relationships/notesSlide" Target="/ppt/notesSlides/notesSlide3.xml" Id="R11b0249e82f04c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e515398b804116" /><Relationship Type="http://schemas.openxmlformats.org/officeDocument/2006/relationships/notesSlide" Target="/ppt/notesSlides/notesSlide4.xml" Id="R21623ff72d034f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796b747ab941ec" /><Relationship Type="http://schemas.openxmlformats.org/officeDocument/2006/relationships/image" Target="/ppt/media/image.jpeg" Id="R09353b09f0b04046" /><Relationship Type="http://schemas.openxmlformats.org/officeDocument/2006/relationships/notesSlide" Target="/ppt/notesSlides/notesSlide5.xml" Id="R8a5b95dc461d4a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5d83698a6441cf" /><Relationship Type="http://schemas.openxmlformats.org/officeDocument/2006/relationships/notesSlide" Target="/ppt/notesSlides/notesSlide6.xml" Id="R10c958094f5e485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ook-accent">
            <a:extLst xmlns:a="http://schemas.openxmlformats.org/drawingml/2006/main">
              <a:ext uri="{FF2B5EF4-FFF2-40B4-BE49-F238E27FC236}">
                <a16:creationId xmlns:a16="http://schemas.microsoft.com/office/drawing/2014/main" id="{CA588B2E-813D-4E3F-9573-F005C0E7E6E9}"/>
              </a:ext>
            </a:extLst>
          </p:cNvPr>
          <p:cNvSpPr>
            <a:spLocks xmlns:a="http://schemas.openxmlformats.org/drawingml/2006/main" noGrp="1"/>
          </p:cNvSpPr>
          <p:nvPr/>
        </p:nvSpPr>
        <p:spPr>
          <a:xfrm xmlns:a="http://schemas.openxmlformats.org/drawingml/2006/main">
            <a:off x="390525" y="390525"/>
            <a:ext cx="228600" cy="228600"/>
          </a:xfrm>
          <a:prstGeom xmlns:a="http://schemas.openxmlformats.org/drawingml/2006/main" prst="rect">
            <a:avLst/>
          </a:prstGeom>
          <a:solidFill xmlns:a="http://schemas.openxmlformats.org/drawingml/2006/main">
            <a:srgbClr val="8AF2B5"/>
          </a:solidFill>
        </p:spPr>
      </p:sp>
      <p:sp>
        <p:nvSpPr>
          <p:cNvPr id="2" name="hook-brand">
            <a:extLst xmlns:a="http://schemas.openxmlformats.org/drawingml/2006/main">
              <a:ext uri="{FF2B5EF4-FFF2-40B4-BE49-F238E27FC236}">
                <a16:creationId xmlns:a16="http://schemas.microsoft.com/office/drawing/2014/main" id="{87803D9E-2655-4F70-97D1-D3A4BF588B51}"/>
              </a:ext>
            </a:extLst>
          </p:cNvPr>
          <p:cNvSpPr>
            <a:spLocks xmlns:a="http://schemas.openxmlformats.org/drawingml/2006/main" noGrp="1"/>
          </p:cNvSpPr>
          <p:nvPr/>
        </p:nvSpPr>
        <p:spPr>
          <a:xfrm xmlns:a="http://schemas.openxmlformats.org/drawingml/2006/main">
            <a:off x="390525" y="600075"/>
            <a:ext cx="28575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C6B43"/>
                </a:solidFill>
                <a:latin typeface="Arial"/>
                <a:ea typeface="Arial"/>
                <a:cs typeface="Arial"/>
              </a:defRPr>
            </a:pPr>
            <a:r>
              <a:t>GREEDYTRIP</a:t>
            </a:r>
          </a:p>
        </p:txBody>
      </p:sp>
      <p:sp>
        <p:nvSpPr>
          <p:cNvPr id="3" name="hook-label">
            <a:extLst xmlns:a="http://schemas.openxmlformats.org/drawingml/2006/main">
              <a:ext uri="{FF2B5EF4-FFF2-40B4-BE49-F238E27FC236}">
                <a16:creationId xmlns:a16="http://schemas.microsoft.com/office/drawing/2014/main" id="{A3933009-B432-4264-8DF2-6B74D2063C10}"/>
              </a:ext>
            </a:extLst>
          </p:cNvPr>
          <p:cNvSpPr>
            <a:spLocks xmlns:a="http://schemas.openxmlformats.org/drawingml/2006/main" noGrp="1"/>
          </p:cNvSpPr>
          <p:nvPr/>
        </p:nvSpPr>
        <p:spPr>
          <a:xfrm xmlns:a="http://schemas.openxmlformats.org/drawingml/2006/main">
            <a:off x="8648700" y="600075"/>
            <a:ext cx="314325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F6368"/>
                </a:solidFill>
                <a:latin typeface="Arial"/>
                <a:ea typeface="Arial"/>
                <a:cs typeface="Arial"/>
              </a:defRPr>
            </a:pPr>
            <a:r>
              <a:t>OPENING QUESTION</a:t>
            </a:r>
          </a:p>
        </p:txBody>
      </p:sp>
      <p:sp>
        <p:nvSpPr>
          <p:cNvPr id="4" name="hook-title">
            <a:extLst xmlns:a="http://schemas.openxmlformats.org/drawingml/2006/main">
              <a:ext uri="{FF2B5EF4-FFF2-40B4-BE49-F238E27FC236}">
                <a16:creationId xmlns:a16="http://schemas.microsoft.com/office/drawing/2014/main" id="{DF813850-3CD0-4EFE-9CCF-86D912470D61}"/>
              </a:ext>
            </a:extLst>
          </p:cNvPr>
          <p:cNvSpPr>
            <a:spLocks xmlns:a="http://schemas.openxmlformats.org/drawingml/2006/main" noGrp="1"/>
          </p:cNvSpPr>
          <p:nvPr/>
        </p:nvSpPr>
        <p:spPr>
          <a:xfrm xmlns:a="http://schemas.openxmlformats.org/drawingml/2006/main">
            <a:off x="390525" y="2247900"/>
            <a:ext cx="10668000" cy="333375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5700" b="1">
                <a:solidFill>
                  <a:srgbClr val="050505"/>
                </a:solidFill>
                <a:latin typeface="Arial"/>
                <a:ea typeface="Arial"/>
                <a:cs typeface="Arial"/>
              </a:defRPr>
            </a:pPr>
            <a:r>
              <a:t>Where are you going
after this hackathon?</a:t>
            </a:r>
          </a:p>
        </p:txBody>
      </p:sp>
      <p:sp>
        <p:nvSpPr>
          <p:cNvPr id="5" name="footer-1">
            <a:extLst xmlns:a="http://schemas.openxmlformats.org/drawingml/2006/main">
              <a:ext uri="{FF2B5EF4-FFF2-40B4-BE49-F238E27FC236}">
                <a16:creationId xmlns:a16="http://schemas.microsoft.com/office/drawing/2014/main" id="{E3BDF23B-2E1A-4925-BC2B-75833ABF96A1}"/>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50" b="0">
                <a:solidFill>
                  <a:srgbClr val="5F6368"/>
                </a:solidFill>
                <a:latin typeface="Arial"/>
                <a:ea typeface="Arial"/>
                <a:cs typeface="Arial"/>
              </a:defRPr>
            </a:pPr>
            <a:r>
              <a:t>01</a:t>
            </a:r>
          </a:p>
        </p:txBody>
      </p:sp>
    </p:spTree>
    <p:extLst>
      <p:ext uri="{BB962C8B-B14F-4D97-AF65-F5344CB8AC3E}">
        <p14:creationId xmlns:p14="http://schemas.microsoft.com/office/powerpoint/2010/main" val="10904105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problem-title">
            <a:extLst xmlns:a="http://schemas.openxmlformats.org/drawingml/2006/main">
              <a:ext uri="{FF2B5EF4-FFF2-40B4-BE49-F238E27FC236}">
                <a16:creationId xmlns:a16="http://schemas.microsoft.com/office/drawing/2014/main" id="{3E46287F-DF84-43E6-8CC3-CE1B3843E49F}"/>
              </a:ext>
            </a:extLst>
          </p:cNvPr>
          <p:cNvSpPr>
            <a:spLocks xmlns:a="http://schemas.openxmlformats.org/drawingml/2006/main" noGrp="1"/>
          </p:cNvSpPr>
          <p:nvPr/>
        </p:nvSpPr>
        <p:spPr>
          <a:xfrm xmlns:a="http://schemas.openxmlformats.org/drawingml/2006/main">
            <a:off x="390525" y="342900"/>
            <a:ext cx="11401425" cy="1123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050505"/>
                </a:solidFill>
                <a:latin typeface="Arial"/>
                <a:ea typeface="Arial"/>
                <a:cs typeface="Arial"/>
              </a:defRPr>
            </a:pPr>
            <a:r>
              <a:t>No idea? Even a good plan rarely survives the day.</a:t>
            </a:r>
          </a:p>
        </p:txBody>
      </p:sp>
      <p:sp>
        <p:nvSpPr>
          <p:cNvPr id="2" name="problem-personal">
            <a:extLst xmlns:a="http://schemas.openxmlformats.org/drawingml/2006/main">
              <a:ext uri="{FF2B5EF4-FFF2-40B4-BE49-F238E27FC236}">
                <a16:creationId xmlns:a16="http://schemas.microsoft.com/office/drawing/2014/main" id="{C843EC33-D4B7-454A-B5E0-7E5264A72D90}"/>
              </a:ext>
            </a:extLst>
          </p:cNvPr>
          <p:cNvSpPr>
            <a:spLocks xmlns:a="http://schemas.openxmlformats.org/drawingml/2006/main" noGrp="1"/>
          </p:cNvSpPr>
          <p:nvPr/>
        </p:nvSpPr>
        <p:spPr>
          <a:xfrm xmlns:a="http://schemas.openxmlformats.org/drawingml/2006/main">
            <a:off x="390525" y="1628775"/>
            <a:ext cx="10668000" cy="60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F6368"/>
                </a:solidFill>
                <a:latin typeface="Arial"/>
                <a:ea typeface="Arial"/>
                <a:cs typeface="Arial"/>
              </a:defRPr>
            </a:pPr>
            <a:r>
              <a:t>I honestly cannot remember a trip where we followed the itinerary exactly.</a:t>
            </a:r>
          </a:p>
        </p:txBody>
      </p:sp>
      <p:sp>
        <p:nvSpPr>
          <p:cNvPr id="3" name="footer-2">
            <a:extLst xmlns:a="http://schemas.openxmlformats.org/drawingml/2006/main">
              <a:ext uri="{FF2B5EF4-FFF2-40B4-BE49-F238E27FC236}">
                <a16:creationId xmlns:a16="http://schemas.microsoft.com/office/drawing/2014/main" id="{ADEFB337-0B6E-4418-BDFA-B965C6DEFCFA}"/>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50" b="0">
                <a:solidFill>
                  <a:srgbClr val="5F6368"/>
                </a:solidFill>
                <a:latin typeface="Arial"/>
                <a:ea typeface="Arial"/>
                <a:cs typeface="Arial"/>
              </a:defRPr>
            </a:pPr>
            <a:r>
              <a:t>02</a:t>
            </a:r>
          </a:p>
        </p:txBody>
      </p:sp>
      <p:sp>
        <p:nvSpPr>
          <p:cNvPr id="4" name="problem-rule-0">
            <a:extLst xmlns:a="http://schemas.openxmlformats.org/drawingml/2006/main">
              <a:ext uri="{FF2B5EF4-FFF2-40B4-BE49-F238E27FC236}">
                <a16:creationId xmlns:a16="http://schemas.microsoft.com/office/drawing/2014/main" id="{7E8F9A6B-0C17-4C81-8D4B-EFD7BAB2D1F8}"/>
              </a:ext>
            </a:extLst>
          </p:cNvPr>
          <p:cNvSpPr>
            <a:spLocks xmlns:a="http://schemas.openxmlformats.org/drawingml/2006/main" noGrp="1"/>
          </p:cNvSpPr>
          <p:nvPr/>
        </p:nvSpPr>
        <p:spPr>
          <a:xfrm xmlns:a="http://schemas.openxmlformats.org/drawingml/2006/main">
            <a:off x="390525" y="3143250"/>
            <a:ext cx="228600" cy="228600"/>
          </a:xfrm>
          <a:prstGeom xmlns:a="http://schemas.openxmlformats.org/drawingml/2006/main" prst="rect">
            <a:avLst/>
          </a:prstGeom>
          <a:solidFill xmlns:a="http://schemas.openxmlformats.org/drawingml/2006/main">
            <a:srgbClr val="050505"/>
          </a:solidFill>
        </p:spPr>
      </p:sp>
      <p:sp>
        <p:nvSpPr>
          <p:cNvPr id="5" name="problem-heading-0">
            <a:extLst xmlns:a="http://schemas.openxmlformats.org/drawingml/2006/main">
              <a:ext uri="{FF2B5EF4-FFF2-40B4-BE49-F238E27FC236}">
                <a16:creationId xmlns:a16="http://schemas.microsoft.com/office/drawing/2014/main" id="{82C82F47-411B-40C6-93A0-25E1E839987D}"/>
              </a:ext>
            </a:extLst>
          </p:cNvPr>
          <p:cNvSpPr>
            <a:spLocks xmlns:a="http://schemas.openxmlformats.org/drawingml/2006/main" noGrp="1"/>
          </p:cNvSpPr>
          <p:nvPr/>
        </p:nvSpPr>
        <p:spPr>
          <a:xfrm xmlns:a="http://schemas.openxmlformats.org/drawingml/2006/main">
            <a:off x="390525" y="3524250"/>
            <a:ext cx="3257550" cy="666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50505"/>
                </a:solidFill>
                <a:latin typeface="Arial"/>
                <a:ea typeface="Arial"/>
                <a:cs typeface="Arial"/>
              </a:defRPr>
            </a:pPr>
            <a:r>
              <a:t>Traffic happens.</a:t>
            </a:r>
          </a:p>
        </p:txBody>
      </p:sp>
      <p:sp>
        <p:nvSpPr>
          <p:cNvPr id="6" name="problem-body-0">
            <a:extLst xmlns:a="http://schemas.openxmlformats.org/drawingml/2006/main">
              <a:ext uri="{FF2B5EF4-FFF2-40B4-BE49-F238E27FC236}">
                <a16:creationId xmlns:a16="http://schemas.microsoft.com/office/drawing/2014/main" id="{77B19733-026F-42FC-B80E-0B5C36099A5E}"/>
              </a:ext>
            </a:extLst>
          </p:cNvPr>
          <p:cNvSpPr>
            <a:spLocks xmlns:a="http://schemas.openxmlformats.org/drawingml/2006/main" noGrp="1"/>
          </p:cNvSpPr>
          <p:nvPr/>
        </p:nvSpPr>
        <p:spPr>
          <a:xfrm xmlns:a="http://schemas.openxmlformats.org/drawingml/2006/main">
            <a:off x="390525" y="4362450"/>
            <a:ext cx="3257550" cy="1200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5F6368"/>
                </a:solidFill>
                <a:latin typeface="Arial"/>
                <a:ea typeface="Arial"/>
                <a:cs typeface="Arial"/>
              </a:defRPr>
            </a:pPr>
            <a:r>
              <a:t>The route you planned is already outdated.</a:t>
            </a:r>
          </a:p>
        </p:txBody>
      </p:sp>
      <p:sp>
        <p:nvSpPr>
          <p:cNvPr id="7" name="problem-rule-1">
            <a:extLst xmlns:a="http://schemas.openxmlformats.org/drawingml/2006/main">
              <a:ext uri="{FF2B5EF4-FFF2-40B4-BE49-F238E27FC236}">
                <a16:creationId xmlns:a16="http://schemas.microsoft.com/office/drawing/2014/main" id="{CFBA2C7A-08E1-470B-BF21-D52B07092035}"/>
              </a:ext>
            </a:extLst>
          </p:cNvPr>
          <p:cNvSpPr>
            <a:spLocks xmlns:a="http://schemas.openxmlformats.org/drawingml/2006/main" noGrp="1"/>
          </p:cNvSpPr>
          <p:nvPr/>
        </p:nvSpPr>
        <p:spPr>
          <a:xfrm xmlns:a="http://schemas.openxmlformats.org/drawingml/2006/main">
            <a:off x="4314825" y="3143250"/>
            <a:ext cx="228600" cy="228600"/>
          </a:xfrm>
          <a:prstGeom xmlns:a="http://schemas.openxmlformats.org/drawingml/2006/main" prst="rect">
            <a:avLst/>
          </a:prstGeom>
          <a:solidFill xmlns:a="http://schemas.openxmlformats.org/drawingml/2006/main">
            <a:srgbClr val="8AF2B5"/>
          </a:solidFill>
        </p:spPr>
      </p:sp>
      <p:sp>
        <p:nvSpPr>
          <p:cNvPr id="8" name="problem-heading-1">
            <a:extLst xmlns:a="http://schemas.openxmlformats.org/drawingml/2006/main">
              <a:ext uri="{FF2B5EF4-FFF2-40B4-BE49-F238E27FC236}">
                <a16:creationId xmlns:a16="http://schemas.microsoft.com/office/drawing/2014/main" id="{4EC44B39-2745-4EB0-988B-7F8119212E9C}"/>
              </a:ext>
            </a:extLst>
          </p:cNvPr>
          <p:cNvSpPr>
            <a:spLocks xmlns:a="http://schemas.openxmlformats.org/drawingml/2006/main" noGrp="1"/>
          </p:cNvSpPr>
          <p:nvPr/>
        </p:nvSpPr>
        <p:spPr>
          <a:xfrm xmlns:a="http://schemas.openxmlformats.org/drawingml/2006/main">
            <a:off x="4314825" y="3524250"/>
            <a:ext cx="3257550" cy="666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50505"/>
                </a:solidFill>
                <a:latin typeface="Arial"/>
                <a:ea typeface="Arial"/>
                <a:cs typeface="Arial"/>
              </a:defRPr>
            </a:pPr>
            <a:r>
              <a:t>Places close.</a:t>
            </a:r>
          </a:p>
        </p:txBody>
      </p:sp>
      <p:sp>
        <p:nvSpPr>
          <p:cNvPr id="9" name="problem-body-1">
            <a:extLst xmlns:a="http://schemas.openxmlformats.org/drawingml/2006/main">
              <a:ext uri="{FF2B5EF4-FFF2-40B4-BE49-F238E27FC236}">
                <a16:creationId xmlns:a16="http://schemas.microsoft.com/office/drawing/2014/main" id="{3B2BE34F-96BC-48E4-95D7-C7D54276A1C6}"/>
              </a:ext>
            </a:extLst>
          </p:cNvPr>
          <p:cNvSpPr>
            <a:spLocks xmlns:a="http://schemas.openxmlformats.org/drawingml/2006/main" noGrp="1"/>
          </p:cNvSpPr>
          <p:nvPr/>
        </p:nvSpPr>
        <p:spPr>
          <a:xfrm xmlns:a="http://schemas.openxmlformats.org/drawingml/2006/main">
            <a:off x="4314825" y="4362450"/>
            <a:ext cx="3257550" cy="1200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5F6368"/>
                </a:solidFill>
                <a:latin typeface="Arial"/>
                <a:ea typeface="Arial"/>
                <a:cs typeface="Arial"/>
              </a:defRPr>
            </a:pPr>
            <a:r>
              <a:t>The restaurant you planned around is suddenly closed.</a:t>
            </a:r>
          </a:p>
        </p:txBody>
      </p:sp>
      <p:sp>
        <p:nvSpPr>
          <p:cNvPr id="10" name="problem-rule-2">
            <a:extLst xmlns:a="http://schemas.openxmlformats.org/drawingml/2006/main">
              <a:ext uri="{FF2B5EF4-FFF2-40B4-BE49-F238E27FC236}">
                <a16:creationId xmlns:a16="http://schemas.microsoft.com/office/drawing/2014/main" id="{F4748EE1-64AC-4645-8B19-6128C40F9EC4}"/>
              </a:ext>
            </a:extLst>
          </p:cNvPr>
          <p:cNvSpPr>
            <a:spLocks xmlns:a="http://schemas.openxmlformats.org/drawingml/2006/main" noGrp="1"/>
          </p:cNvSpPr>
          <p:nvPr/>
        </p:nvSpPr>
        <p:spPr>
          <a:xfrm xmlns:a="http://schemas.openxmlformats.org/drawingml/2006/main">
            <a:off x="8229600" y="3143250"/>
            <a:ext cx="228600" cy="228600"/>
          </a:xfrm>
          <a:prstGeom xmlns:a="http://schemas.openxmlformats.org/drawingml/2006/main" prst="rect">
            <a:avLst/>
          </a:prstGeom>
          <a:solidFill xmlns:a="http://schemas.openxmlformats.org/drawingml/2006/main">
            <a:srgbClr val="050505"/>
          </a:solidFill>
        </p:spPr>
      </p:sp>
      <p:sp>
        <p:nvSpPr>
          <p:cNvPr id="11" name="problem-heading-2">
            <a:extLst xmlns:a="http://schemas.openxmlformats.org/drawingml/2006/main">
              <a:ext uri="{FF2B5EF4-FFF2-40B4-BE49-F238E27FC236}">
                <a16:creationId xmlns:a16="http://schemas.microsoft.com/office/drawing/2014/main" id="{CEE7381E-7130-4224-A241-0776FC440AF2}"/>
              </a:ext>
            </a:extLst>
          </p:cNvPr>
          <p:cNvSpPr>
            <a:spLocks xmlns:a="http://schemas.openxmlformats.org/drawingml/2006/main" noGrp="1"/>
          </p:cNvSpPr>
          <p:nvPr/>
        </p:nvSpPr>
        <p:spPr>
          <a:xfrm xmlns:a="http://schemas.openxmlformats.org/drawingml/2006/main">
            <a:off x="8229600" y="3524250"/>
            <a:ext cx="3257550" cy="666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50505"/>
                </a:solidFill>
                <a:latin typeface="Arial"/>
                <a:ea typeface="Arial"/>
                <a:cs typeface="Arial"/>
              </a:defRPr>
            </a:pPr>
            <a:r>
              <a:t>Reality disappoints.</a:t>
            </a:r>
          </a:p>
        </p:txBody>
      </p:sp>
      <p:sp>
        <p:nvSpPr>
          <p:cNvPr id="12" name="problem-body-2">
            <a:extLst xmlns:a="http://schemas.openxmlformats.org/drawingml/2006/main">
              <a:ext uri="{FF2B5EF4-FFF2-40B4-BE49-F238E27FC236}">
                <a16:creationId xmlns:a16="http://schemas.microsoft.com/office/drawing/2014/main" id="{2A370D94-D992-4732-B79A-02724F7289D9}"/>
              </a:ext>
            </a:extLst>
          </p:cNvPr>
          <p:cNvSpPr>
            <a:spLocks xmlns:a="http://schemas.openxmlformats.org/drawingml/2006/main" noGrp="1"/>
          </p:cNvSpPr>
          <p:nvPr/>
        </p:nvSpPr>
        <p:spPr>
          <a:xfrm xmlns:a="http://schemas.openxmlformats.org/drawingml/2006/main">
            <a:off x="8229600" y="4362450"/>
            <a:ext cx="3257550" cy="1200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5F6368"/>
                </a:solidFill>
                <a:latin typeface="Arial"/>
                <a:ea typeface="Arial"/>
                <a:cs typeface="Arial"/>
              </a:defRPr>
            </a:pPr>
            <a:r>
              <a:t>Sometimes the stop just is not worth it.</a:t>
            </a:r>
          </a:p>
        </p:txBody>
      </p:sp>
    </p:spTree>
    <p:extLst>
      <p:ext uri="{BB962C8B-B14F-4D97-AF65-F5344CB8AC3E}">
        <p14:creationId xmlns:p14="http://schemas.microsoft.com/office/powerpoint/2010/main" val="4758099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hift-accent">
            <a:extLst xmlns:a="http://schemas.openxmlformats.org/drawingml/2006/main">
              <a:ext uri="{FF2B5EF4-FFF2-40B4-BE49-F238E27FC236}">
                <a16:creationId xmlns:a16="http://schemas.microsoft.com/office/drawing/2014/main" id="{3B29387F-EF0F-4E21-9CBF-ED25BAD3C7C4}"/>
              </a:ext>
            </a:extLst>
          </p:cNvPr>
          <p:cNvSpPr>
            <a:spLocks xmlns:a="http://schemas.openxmlformats.org/drawingml/2006/main" noGrp="1"/>
          </p:cNvSpPr>
          <p:nvPr/>
        </p:nvSpPr>
        <p:spPr>
          <a:xfrm xmlns:a="http://schemas.openxmlformats.org/drawingml/2006/main">
            <a:off x="390525" y="390525"/>
            <a:ext cx="228600" cy="228600"/>
          </a:xfrm>
          <a:prstGeom xmlns:a="http://schemas.openxmlformats.org/drawingml/2006/main" prst="rect">
            <a:avLst/>
          </a:prstGeom>
          <a:solidFill xmlns:a="http://schemas.openxmlformats.org/drawingml/2006/main">
            <a:srgbClr val="8AF2B5"/>
          </a:solidFill>
        </p:spPr>
      </p:sp>
      <p:sp>
        <p:nvSpPr>
          <p:cNvPr id="2" name="shift-label">
            <a:extLst xmlns:a="http://schemas.openxmlformats.org/drawingml/2006/main">
              <a:ext uri="{FF2B5EF4-FFF2-40B4-BE49-F238E27FC236}">
                <a16:creationId xmlns:a16="http://schemas.microsoft.com/office/drawing/2014/main" id="{4721A7D5-4197-4CB5-9900-A6B5D80C2453}"/>
              </a:ext>
            </a:extLst>
          </p:cNvPr>
          <p:cNvSpPr>
            <a:spLocks xmlns:a="http://schemas.openxmlformats.org/drawingml/2006/main" noGrp="1"/>
          </p:cNvSpPr>
          <p:nvPr/>
        </p:nvSpPr>
        <p:spPr>
          <a:xfrm xmlns:a="http://schemas.openxmlformats.org/drawingml/2006/main">
            <a:off x="390525" y="600075"/>
            <a:ext cx="24765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C6B43"/>
                </a:solidFill>
                <a:latin typeface="Arial"/>
                <a:ea typeface="Arial"/>
                <a:cs typeface="Arial"/>
              </a:defRPr>
            </a:pPr>
            <a:r>
              <a:t>THE SHIFT</a:t>
            </a:r>
          </a:p>
        </p:txBody>
      </p:sp>
      <p:sp>
        <p:nvSpPr>
          <p:cNvPr id="3" name="shift-title">
            <a:extLst xmlns:a="http://schemas.openxmlformats.org/drawingml/2006/main">
              <a:ext uri="{FF2B5EF4-FFF2-40B4-BE49-F238E27FC236}">
                <a16:creationId xmlns:a16="http://schemas.microsoft.com/office/drawing/2014/main" id="{46521C2A-E236-4AAE-902F-99D2E4CED517}"/>
              </a:ext>
            </a:extLst>
          </p:cNvPr>
          <p:cNvSpPr>
            <a:spLocks xmlns:a="http://schemas.openxmlformats.org/drawingml/2006/main" noGrp="1"/>
          </p:cNvSpPr>
          <p:nvPr/>
        </p:nvSpPr>
        <p:spPr>
          <a:xfrm xmlns:a="http://schemas.openxmlformats.org/drawingml/2006/main">
            <a:off x="390525" y="1600200"/>
            <a:ext cx="9715500" cy="283845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5850" b="1">
                <a:solidFill>
                  <a:srgbClr val="050505"/>
                </a:solidFill>
                <a:latin typeface="Arial"/>
                <a:ea typeface="Arial"/>
                <a:cs typeface="Arial"/>
              </a:defRPr>
            </a:pPr>
            <a:r>
              <a:t>Travel like a
greedy search.</a:t>
            </a:r>
          </a:p>
        </p:txBody>
      </p:sp>
      <p:sp>
        <p:nvSpPr>
          <p:cNvPr id="4" name="shift-subtitle">
            <a:extLst xmlns:a="http://schemas.openxmlformats.org/drawingml/2006/main">
              <a:ext uri="{FF2B5EF4-FFF2-40B4-BE49-F238E27FC236}">
                <a16:creationId xmlns:a16="http://schemas.microsoft.com/office/drawing/2014/main" id="{2F68FBBF-9785-4F71-B794-50071F112D56}"/>
              </a:ext>
            </a:extLst>
          </p:cNvPr>
          <p:cNvSpPr>
            <a:spLocks xmlns:a="http://schemas.openxmlformats.org/drawingml/2006/main" noGrp="1"/>
          </p:cNvSpPr>
          <p:nvPr/>
        </p:nvSpPr>
        <p:spPr>
          <a:xfrm xmlns:a="http://schemas.openxmlformats.org/drawingml/2006/main">
            <a:off x="390525" y="4714875"/>
            <a:ext cx="9810750" cy="523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F6368"/>
                </a:solidFill>
                <a:latin typeface="Arial"/>
                <a:ea typeface="Arial"/>
                <a:cs typeface="Arial"/>
              </a:defRPr>
            </a:pPr>
            <a:r>
              <a:t>Choose the best next move. Learn. Recompute.</a:t>
            </a:r>
          </a:p>
        </p:txBody>
      </p:sp>
      <p:sp>
        <p:nvSpPr>
          <p:cNvPr id="5" name="shift-formula">
            <a:extLst xmlns:a="http://schemas.openxmlformats.org/drawingml/2006/main">
              <a:ext uri="{FF2B5EF4-FFF2-40B4-BE49-F238E27FC236}">
                <a16:creationId xmlns:a16="http://schemas.microsoft.com/office/drawing/2014/main" id="{A6679D9E-2795-4F2A-AEA2-B0DF27A16F25}"/>
              </a:ext>
            </a:extLst>
          </p:cNvPr>
          <p:cNvSpPr>
            <a:spLocks xmlns:a="http://schemas.openxmlformats.org/drawingml/2006/main" noGrp="1"/>
          </p:cNvSpPr>
          <p:nvPr/>
        </p:nvSpPr>
        <p:spPr>
          <a:xfrm xmlns:a="http://schemas.openxmlformats.org/drawingml/2006/main">
            <a:off x="390525" y="5543550"/>
            <a:ext cx="885825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C6B43"/>
                </a:solidFill>
                <a:latin typeface="Arial"/>
                <a:ea typeface="Arial"/>
                <a:cs typeface="Arial"/>
              </a:defRPr>
            </a:pPr>
            <a:r>
              <a:t>next = argmax utility(place | now, memory)</a:t>
            </a:r>
          </a:p>
        </p:txBody>
      </p:sp>
      <p:sp>
        <p:nvSpPr>
          <p:cNvPr id="6" name="footer-3">
            <a:extLst xmlns:a="http://schemas.openxmlformats.org/drawingml/2006/main">
              <a:ext uri="{FF2B5EF4-FFF2-40B4-BE49-F238E27FC236}">
                <a16:creationId xmlns:a16="http://schemas.microsoft.com/office/drawing/2014/main" id="{AFDB47F3-5FA0-4ADA-A7FA-2D4638CDB4B6}"/>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50" b="0">
                <a:solidFill>
                  <a:srgbClr val="5F6368"/>
                </a:solidFill>
                <a:latin typeface="Arial"/>
                <a:ea typeface="Arial"/>
                <a:cs typeface="Arial"/>
              </a:defRPr>
            </a:pPr>
            <a:r>
              <a:t>03</a:t>
            </a:r>
          </a:p>
        </p:txBody>
      </p:sp>
    </p:spTree>
    <p:extLst>
      <p:ext uri="{BB962C8B-B14F-4D97-AF65-F5344CB8AC3E}">
        <p14:creationId xmlns:p14="http://schemas.microsoft.com/office/powerpoint/2010/main" val="12515251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ystem-title">
            <a:extLst xmlns:a="http://schemas.openxmlformats.org/drawingml/2006/main">
              <a:ext uri="{FF2B5EF4-FFF2-40B4-BE49-F238E27FC236}">
                <a16:creationId xmlns:a16="http://schemas.microsoft.com/office/drawing/2014/main" id="{0D936D03-9C7F-49C8-9539-8E2CC0EA17DF}"/>
              </a:ext>
            </a:extLst>
          </p:cNvPr>
          <p:cNvSpPr>
            <a:spLocks xmlns:a="http://schemas.openxmlformats.org/drawingml/2006/main" noGrp="1"/>
          </p:cNvSpPr>
          <p:nvPr/>
        </p:nvSpPr>
        <p:spPr>
          <a:xfrm xmlns:a="http://schemas.openxmlformats.org/drawingml/2006/main">
            <a:off x="390525" y="342900"/>
            <a:ext cx="11401425" cy="1047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050505"/>
                </a:solidFill>
                <a:latin typeface="Arial"/>
                <a:ea typeface="Arial"/>
                <a:cs typeface="Arial"/>
              </a:defRPr>
            </a:pPr>
            <a:r>
              <a:t>Three systems. One deterministic decision.</a:t>
            </a:r>
          </a:p>
        </p:txBody>
      </p:sp>
      <p:sp>
        <p:nvSpPr>
          <p:cNvPr id="2" name="system-arrow-1">
            <a:extLst xmlns:a="http://schemas.openxmlformats.org/drawingml/2006/main">
              <a:ext uri="{FF2B5EF4-FFF2-40B4-BE49-F238E27FC236}">
                <a16:creationId xmlns:a16="http://schemas.microsoft.com/office/drawing/2014/main" id="{1BB3C451-0FCF-4BC4-B490-742E74286932}"/>
              </a:ext>
            </a:extLst>
          </p:cNvPr>
          <p:cNvSpPr>
            <a:spLocks xmlns:a="http://schemas.openxmlformats.org/drawingml/2006/main" noGrp="1"/>
          </p:cNvSpPr>
          <p:nvPr/>
        </p:nvSpPr>
        <p:spPr>
          <a:xfrm xmlns:a="http://schemas.openxmlformats.org/drawingml/2006/main">
            <a:off x="3600450" y="3009900"/>
            <a:ext cx="47625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2550" b="1">
                <a:solidFill>
                  <a:srgbClr val="C8CCD0"/>
                </a:solidFill>
                <a:latin typeface="Arial"/>
                <a:ea typeface="Arial"/>
                <a:cs typeface="Arial"/>
              </a:defRPr>
            </a:pPr>
            <a:r>
              <a:t>→</a:t>
            </a:r>
          </a:p>
        </p:txBody>
      </p:sp>
      <p:sp>
        <p:nvSpPr>
          <p:cNvPr id="3" name="system-arrow-2">
            <a:extLst xmlns:a="http://schemas.openxmlformats.org/drawingml/2006/main">
              <a:ext uri="{FF2B5EF4-FFF2-40B4-BE49-F238E27FC236}">
                <a16:creationId xmlns:a16="http://schemas.microsoft.com/office/drawing/2014/main" id="{AA35816F-ED2C-4C6E-835A-59E58E0E3AA3}"/>
              </a:ext>
            </a:extLst>
          </p:cNvPr>
          <p:cNvSpPr>
            <a:spLocks xmlns:a="http://schemas.openxmlformats.org/drawingml/2006/main" noGrp="1"/>
          </p:cNvSpPr>
          <p:nvPr/>
        </p:nvSpPr>
        <p:spPr>
          <a:xfrm xmlns:a="http://schemas.openxmlformats.org/drawingml/2006/main">
            <a:off x="7515225" y="3009900"/>
            <a:ext cx="47625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2550" b="1">
                <a:solidFill>
                  <a:srgbClr val="C8CCD0"/>
                </a:solidFill>
                <a:latin typeface="Arial"/>
                <a:ea typeface="Arial"/>
                <a:cs typeface="Arial"/>
              </a:defRPr>
            </a:pPr>
            <a:r>
              <a:t>→</a:t>
            </a:r>
          </a:p>
        </p:txBody>
      </p:sp>
      <p:sp>
        <p:nvSpPr>
          <p:cNvPr id="4" name="footer-4">
            <a:extLst xmlns:a="http://schemas.openxmlformats.org/drawingml/2006/main">
              <a:ext uri="{FF2B5EF4-FFF2-40B4-BE49-F238E27FC236}">
                <a16:creationId xmlns:a16="http://schemas.microsoft.com/office/drawing/2014/main" id="{BA1AE93C-A6D8-4B8D-AD40-8E530379FF4D}"/>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50" b="0">
                <a:solidFill>
                  <a:srgbClr val="5F6368"/>
                </a:solidFill>
                <a:latin typeface="Arial"/>
                <a:ea typeface="Arial"/>
                <a:cs typeface="Arial"/>
              </a:defRPr>
            </a:pPr>
            <a:r>
              <a:t>04</a:t>
            </a:r>
          </a:p>
        </p:txBody>
      </p:sp>
      <p:sp>
        <p:nvSpPr>
          <p:cNvPr id="5" name="system-node-0">
            <a:extLst xmlns:a="http://schemas.openxmlformats.org/drawingml/2006/main">
              <a:ext uri="{FF2B5EF4-FFF2-40B4-BE49-F238E27FC236}">
                <a16:creationId xmlns:a16="http://schemas.microsoft.com/office/drawing/2014/main" id="{946F69DD-445D-4715-B24F-9594FDD3FC17}"/>
              </a:ext>
            </a:extLst>
          </p:cNvPr>
          <p:cNvSpPr>
            <a:spLocks xmlns:a="http://schemas.openxmlformats.org/drawingml/2006/main" noGrp="1"/>
          </p:cNvSpPr>
          <p:nvPr/>
        </p:nvSpPr>
        <p:spPr>
          <a:xfrm xmlns:a="http://schemas.openxmlformats.org/drawingml/2006/main">
            <a:off x="390525" y="3209925"/>
            <a:ext cx="228600" cy="228600"/>
          </a:xfrm>
          <a:prstGeom xmlns:a="http://schemas.openxmlformats.org/drawingml/2006/main" prst="ellipse">
            <a:avLst/>
          </a:prstGeom>
          <a:solidFill xmlns:a="http://schemas.openxmlformats.org/drawingml/2006/main">
            <a:srgbClr val="050505"/>
          </a:solidFill>
        </p:spPr>
      </p:sp>
      <p:sp>
        <p:nvSpPr>
          <p:cNvPr id="6" name="system-label-0">
            <a:extLst xmlns:a="http://schemas.openxmlformats.org/drawingml/2006/main">
              <a:ext uri="{FF2B5EF4-FFF2-40B4-BE49-F238E27FC236}">
                <a16:creationId xmlns:a16="http://schemas.microsoft.com/office/drawing/2014/main" id="{6C1EE185-81C4-4A65-891F-F8C1091F3BD7}"/>
              </a:ext>
            </a:extLst>
          </p:cNvPr>
          <p:cNvSpPr>
            <a:spLocks xmlns:a="http://schemas.openxmlformats.org/drawingml/2006/main" noGrp="1"/>
          </p:cNvSpPr>
          <p:nvPr/>
        </p:nvSpPr>
        <p:spPr>
          <a:xfrm xmlns:a="http://schemas.openxmlformats.org/drawingml/2006/main">
            <a:off x="390525" y="2714625"/>
            <a:ext cx="200025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5F6368"/>
                </a:solidFill>
                <a:latin typeface="Arial"/>
                <a:ea typeface="Arial"/>
                <a:cs typeface="Arial"/>
              </a:defRPr>
            </a:pPr>
            <a:r>
              <a:t>FRONTIER</a:t>
            </a:r>
          </a:p>
        </p:txBody>
      </p:sp>
      <p:sp>
        <p:nvSpPr>
          <p:cNvPr id="7" name="system-heading-0">
            <a:extLst xmlns:a="http://schemas.openxmlformats.org/drawingml/2006/main">
              <a:ext uri="{FF2B5EF4-FFF2-40B4-BE49-F238E27FC236}">
                <a16:creationId xmlns:a16="http://schemas.microsoft.com/office/drawing/2014/main" id="{4B84D2A4-87E5-4A73-8784-2583219FC19F}"/>
              </a:ext>
            </a:extLst>
          </p:cNvPr>
          <p:cNvSpPr>
            <a:spLocks xmlns:a="http://schemas.openxmlformats.org/drawingml/2006/main" noGrp="1"/>
          </p:cNvSpPr>
          <p:nvPr/>
        </p:nvSpPr>
        <p:spPr>
          <a:xfrm xmlns:a="http://schemas.openxmlformats.org/drawingml/2006/main">
            <a:off x="390525" y="3733800"/>
            <a:ext cx="3143250" cy="523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50505"/>
                </a:solidFill>
                <a:latin typeface="Arial"/>
                <a:ea typeface="Arial"/>
                <a:cs typeface="Arial"/>
              </a:defRPr>
            </a:pPr>
            <a:r>
              <a:t>Bright Data</a:t>
            </a:r>
          </a:p>
        </p:txBody>
      </p:sp>
      <p:sp>
        <p:nvSpPr>
          <p:cNvPr id="8" name="system-body-0">
            <a:extLst xmlns:a="http://schemas.openxmlformats.org/drawingml/2006/main">
              <a:ext uri="{FF2B5EF4-FFF2-40B4-BE49-F238E27FC236}">
                <a16:creationId xmlns:a16="http://schemas.microsoft.com/office/drawing/2014/main" id="{00578ED4-EF39-4F90-B1A6-E2D7DC655013}"/>
              </a:ext>
            </a:extLst>
          </p:cNvPr>
          <p:cNvSpPr>
            <a:spLocks xmlns:a="http://schemas.openxmlformats.org/drawingml/2006/main" noGrp="1"/>
          </p:cNvSpPr>
          <p:nvPr/>
        </p:nvSpPr>
        <p:spPr>
          <a:xfrm xmlns:a="http://schemas.openxmlformats.org/drawingml/2006/main">
            <a:off x="390525" y="4457700"/>
            <a:ext cx="3143250" cy="1104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F6368"/>
                </a:solidFill>
                <a:latin typeface="Arial"/>
                <a:ea typeface="Arial"/>
                <a:cs typeface="Arial"/>
              </a:defRPr>
            </a:pPr>
            <a:r>
              <a:t>Builds the nearby frontier from public place data.</a:t>
            </a:r>
          </a:p>
        </p:txBody>
      </p:sp>
      <p:sp>
        <p:nvSpPr>
          <p:cNvPr id="9" name="system-node-1">
            <a:extLst xmlns:a="http://schemas.openxmlformats.org/drawingml/2006/main">
              <a:ext uri="{FF2B5EF4-FFF2-40B4-BE49-F238E27FC236}">
                <a16:creationId xmlns:a16="http://schemas.microsoft.com/office/drawing/2014/main" id="{6BE3E9B0-DBAC-4D7F-879B-C2928DC24FCB}"/>
              </a:ext>
            </a:extLst>
          </p:cNvPr>
          <p:cNvSpPr>
            <a:spLocks xmlns:a="http://schemas.openxmlformats.org/drawingml/2006/main" noGrp="1"/>
          </p:cNvSpPr>
          <p:nvPr/>
        </p:nvSpPr>
        <p:spPr>
          <a:xfrm xmlns:a="http://schemas.openxmlformats.org/drawingml/2006/main">
            <a:off x="4314825" y="3209925"/>
            <a:ext cx="228600" cy="228600"/>
          </a:xfrm>
          <a:prstGeom xmlns:a="http://schemas.openxmlformats.org/drawingml/2006/main" prst="ellipse">
            <a:avLst/>
          </a:prstGeom>
          <a:solidFill xmlns:a="http://schemas.openxmlformats.org/drawingml/2006/main">
            <a:srgbClr val="050505"/>
          </a:solidFill>
        </p:spPr>
      </p:sp>
      <p:sp>
        <p:nvSpPr>
          <p:cNvPr id="10" name="system-label-1">
            <a:extLst xmlns:a="http://schemas.openxmlformats.org/drawingml/2006/main">
              <a:ext uri="{FF2B5EF4-FFF2-40B4-BE49-F238E27FC236}">
                <a16:creationId xmlns:a16="http://schemas.microsoft.com/office/drawing/2014/main" id="{81201B09-9E1B-4817-B4A9-4D32B23D1A66}"/>
              </a:ext>
            </a:extLst>
          </p:cNvPr>
          <p:cNvSpPr>
            <a:spLocks xmlns:a="http://schemas.openxmlformats.org/drawingml/2006/main" noGrp="1"/>
          </p:cNvSpPr>
          <p:nvPr/>
        </p:nvSpPr>
        <p:spPr>
          <a:xfrm xmlns:a="http://schemas.openxmlformats.org/drawingml/2006/main">
            <a:off x="4314825" y="2714625"/>
            <a:ext cx="200025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5F6368"/>
                </a:solidFill>
                <a:latin typeface="Arial"/>
                <a:ea typeface="Arial"/>
                <a:cs typeface="Arial"/>
              </a:defRPr>
            </a:pPr>
            <a:r>
              <a:t>MEMORY</a:t>
            </a:r>
          </a:p>
        </p:txBody>
      </p:sp>
      <p:sp>
        <p:nvSpPr>
          <p:cNvPr id="11" name="system-heading-1">
            <a:extLst xmlns:a="http://schemas.openxmlformats.org/drawingml/2006/main">
              <a:ext uri="{FF2B5EF4-FFF2-40B4-BE49-F238E27FC236}">
                <a16:creationId xmlns:a16="http://schemas.microsoft.com/office/drawing/2014/main" id="{CB534DBD-B0D9-4D80-8A94-E25E11F60206}"/>
              </a:ext>
            </a:extLst>
          </p:cNvPr>
          <p:cNvSpPr>
            <a:spLocks xmlns:a="http://schemas.openxmlformats.org/drawingml/2006/main" noGrp="1"/>
          </p:cNvSpPr>
          <p:nvPr/>
        </p:nvSpPr>
        <p:spPr>
          <a:xfrm xmlns:a="http://schemas.openxmlformats.org/drawingml/2006/main">
            <a:off x="4314825" y="3733800"/>
            <a:ext cx="3143250" cy="523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50505"/>
                </a:solidFill>
                <a:latin typeface="Arial"/>
                <a:ea typeface="Arial"/>
                <a:cs typeface="Arial"/>
              </a:defRPr>
            </a:pPr>
            <a:r>
              <a:t>Moss</a:t>
            </a:r>
          </a:p>
        </p:txBody>
      </p:sp>
      <p:sp>
        <p:nvSpPr>
          <p:cNvPr id="12" name="system-body-1">
            <a:extLst xmlns:a="http://schemas.openxmlformats.org/drawingml/2006/main">
              <a:ext uri="{FF2B5EF4-FFF2-40B4-BE49-F238E27FC236}">
                <a16:creationId xmlns:a16="http://schemas.microsoft.com/office/drawing/2014/main" id="{ECEB54BF-8C12-416A-8F41-A9A3468CC24E}"/>
              </a:ext>
            </a:extLst>
          </p:cNvPr>
          <p:cNvSpPr>
            <a:spLocks xmlns:a="http://schemas.openxmlformats.org/drawingml/2006/main" noGrp="1"/>
          </p:cNvSpPr>
          <p:nvPr/>
        </p:nvSpPr>
        <p:spPr>
          <a:xfrm xmlns:a="http://schemas.openxmlformats.org/drawingml/2006/main">
            <a:off x="4314825" y="4457700"/>
            <a:ext cx="3143250" cy="1104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F6368"/>
                </a:solidFill>
                <a:latin typeface="Arial"/>
                <a:ea typeface="Arial"/>
                <a:cs typeface="Arial"/>
              </a:defRPr>
            </a:pPr>
            <a:r>
              <a:t>Retrieves the preferences that matter for each candidate.</a:t>
            </a:r>
          </a:p>
        </p:txBody>
      </p:sp>
      <p:sp>
        <p:nvSpPr>
          <p:cNvPr id="13" name="system-node-2">
            <a:extLst xmlns:a="http://schemas.openxmlformats.org/drawingml/2006/main">
              <a:ext uri="{FF2B5EF4-FFF2-40B4-BE49-F238E27FC236}">
                <a16:creationId xmlns:a16="http://schemas.microsoft.com/office/drawing/2014/main" id="{EB70CD77-96CD-4E7A-B925-C5AC8B0BFEEB}"/>
              </a:ext>
            </a:extLst>
          </p:cNvPr>
          <p:cNvSpPr>
            <a:spLocks xmlns:a="http://schemas.openxmlformats.org/drawingml/2006/main" noGrp="1"/>
          </p:cNvSpPr>
          <p:nvPr/>
        </p:nvSpPr>
        <p:spPr>
          <a:xfrm xmlns:a="http://schemas.openxmlformats.org/drawingml/2006/main">
            <a:off x="8229600" y="3209925"/>
            <a:ext cx="228600" cy="228600"/>
          </a:xfrm>
          <a:prstGeom xmlns:a="http://schemas.openxmlformats.org/drawingml/2006/main" prst="ellipse">
            <a:avLst/>
          </a:prstGeom>
          <a:solidFill xmlns:a="http://schemas.openxmlformats.org/drawingml/2006/main">
            <a:srgbClr val="8AF2B5"/>
          </a:solidFill>
        </p:spPr>
      </p:sp>
      <p:sp>
        <p:nvSpPr>
          <p:cNvPr id="14" name="system-label-2">
            <a:extLst xmlns:a="http://schemas.openxmlformats.org/drawingml/2006/main">
              <a:ext uri="{FF2B5EF4-FFF2-40B4-BE49-F238E27FC236}">
                <a16:creationId xmlns:a16="http://schemas.microsoft.com/office/drawing/2014/main" id="{147CC88B-171E-4F28-B1D4-B9EA2CD08603}"/>
              </a:ext>
            </a:extLst>
          </p:cNvPr>
          <p:cNvSpPr>
            <a:spLocks xmlns:a="http://schemas.openxmlformats.org/drawingml/2006/main" noGrp="1"/>
          </p:cNvSpPr>
          <p:nvPr/>
        </p:nvSpPr>
        <p:spPr>
          <a:xfrm xmlns:a="http://schemas.openxmlformats.org/drawingml/2006/main">
            <a:off x="8229600" y="2714625"/>
            <a:ext cx="200025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C6B43"/>
                </a:solidFill>
                <a:latin typeface="Arial"/>
                <a:ea typeface="Arial"/>
                <a:cs typeface="Arial"/>
              </a:defRPr>
            </a:pPr>
            <a:r>
              <a:t>ARGMAX</a:t>
            </a:r>
          </a:p>
        </p:txBody>
      </p:sp>
      <p:sp>
        <p:nvSpPr>
          <p:cNvPr id="15" name="system-heading-2">
            <a:extLst xmlns:a="http://schemas.openxmlformats.org/drawingml/2006/main">
              <a:ext uri="{FF2B5EF4-FFF2-40B4-BE49-F238E27FC236}">
                <a16:creationId xmlns:a16="http://schemas.microsoft.com/office/drawing/2014/main" id="{BF39124B-88D5-4042-8DD9-52469F6FEA56}"/>
              </a:ext>
            </a:extLst>
          </p:cNvPr>
          <p:cNvSpPr>
            <a:spLocks xmlns:a="http://schemas.openxmlformats.org/drawingml/2006/main" noGrp="1"/>
          </p:cNvSpPr>
          <p:nvPr/>
        </p:nvSpPr>
        <p:spPr>
          <a:xfrm xmlns:a="http://schemas.openxmlformats.org/drawingml/2006/main">
            <a:off x="8229600" y="3733800"/>
            <a:ext cx="3143250" cy="523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50505"/>
                </a:solidFill>
                <a:latin typeface="Arial"/>
                <a:ea typeface="Arial"/>
                <a:cs typeface="Arial"/>
              </a:defRPr>
            </a:pPr>
            <a:r>
              <a:t>GreedyTrip</a:t>
            </a:r>
          </a:p>
        </p:txBody>
      </p:sp>
      <p:sp>
        <p:nvSpPr>
          <p:cNvPr id="16" name="system-body-2">
            <a:extLst xmlns:a="http://schemas.openxmlformats.org/drawingml/2006/main">
              <a:ext uri="{FF2B5EF4-FFF2-40B4-BE49-F238E27FC236}">
                <a16:creationId xmlns:a16="http://schemas.microsoft.com/office/drawing/2014/main" id="{380F87D7-57D3-4177-84F7-1455965FBAE9}"/>
              </a:ext>
            </a:extLst>
          </p:cNvPr>
          <p:cNvSpPr>
            <a:spLocks xmlns:a="http://schemas.openxmlformats.org/drawingml/2006/main" noGrp="1"/>
          </p:cNvSpPr>
          <p:nvPr/>
        </p:nvSpPr>
        <p:spPr>
          <a:xfrm xmlns:a="http://schemas.openxmlformats.org/drawingml/2006/main">
            <a:off x="8229600" y="4457700"/>
            <a:ext cx="3143250" cy="1104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F6368"/>
                </a:solidFill>
                <a:latin typeface="Arial"/>
                <a:ea typeface="Arial"/>
                <a:cs typeface="Arial"/>
              </a:defRPr>
            </a:pPr>
            <a:r>
              <a:t>Scores every feasible option and selects one deterministic winner.</a:t>
            </a:r>
          </a:p>
        </p:txBody>
      </p:sp>
      <p:sp>
        <p:nvSpPr>
          <p:cNvPr id="17" name="system-guardrail">
            <a:extLst xmlns:a="http://schemas.openxmlformats.org/drawingml/2006/main">
              <a:ext uri="{FF2B5EF4-FFF2-40B4-BE49-F238E27FC236}">
                <a16:creationId xmlns:a16="http://schemas.microsoft.com/office/drawing/2014/main" id="{7E8B1982-6D0E-46C4-86C0-99720E7A6A89}"/>
              </a:ext>
            </a:extLst>
          </p:cNvPr>
          <p:cNvSpPr>
            <a:spLocks xmlns:a="http://schemas.openxmlformats.org/drawingml/2006/main" noGrp="1"/>
          </p:cNvSpPr>
          <p:nvPr/>
        </p:nvSpPr>
        <p:spPr>
          <a:xfrm xmlns:a="http://schemas.openxmlformats.org/drawingml/2006/main">
            <a:off x="390525" y="5810250"/>
            <a:ext cx="88582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F6368"/>
                </a:solidFill>
                <a:latin typeface="Arial"/>
                <a:ea typeface="Arial"/>
                <a:cs typeface="Arial"/>
              </a:defRPr>
            </a:pPr>
            <a:r>
              <a:t>OpenAI interprets language. It never chooses the winner.</a:t>
            </a:r>
          </a:p>
        </p:txBody>
      </p:sp>
    </p:spTree>
    <p:extLst>
      <p:ext uri="{BB962C8B-B14F-4D97-AF65-F5344CB8AC3E}">
        <p14:creationId xmlns:p14="http://schemas.microsoft.com/office/powerpoint/2010/main" val="12689398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emo-title">
            <a:extLst xmlns:a="http://schemas.openxmlformats.org/drawingml/2006/main">
              <a:ext uri="{FF2B5EF4-FFF2-40B4-BE49-F238E27FC236}">
                <a16:creationId xmlns:a16="http://schemas.microsoft.com/office/drawing/2014/main" id="{2FFD2CB9-6AA5-42E6-8A64-3B1F4693E2AC}"/>
              </a:ext>
            </a:extLst>
          </p:cNvPr>
          <p:cNvSpPr>
            <a:spLocks xmlns:a="http://schemas.openxmlformats.org/drawingml/2006/main" noGrp="1"/>
          </p:cNvSpPr>
          <p:nvPr/>
        </p:nvSpPr>
        <p:spPr>
          <a:xfrm xmlns:a="http://schemas.openxmlformats.org/drawingml/2006/main">
            <a:off x="390525" y="342900"/>
            <a:ext cx="11401425" cy="1028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50505"/>
                </a:solidFill>
                <a:latin typeface="Arial"/>
                <a:ea typeface="Arial"/>
                <a:cs typeface="Arial"/>
              </a:defRPr>
            </a:pPr>
            <a:r>
              <a:t>Watch GreedyTrip adapt in real time.</a:t>
            </a:r>
          </a:p>
        </p:txBody>
      </p:sp>
      <p:sp>
        <p:nvSpPr>
          <p:cNvPr id="2" name="demo-step-1">
            <a:extLst xmlns:a="http://schemas.openxmlformats.org/drawingml/2006/main">
              <a:ext uri="{FF2B5EF4-FFF2-40B4-BE49-F238E27FC236}">
                <a16:creationId xmlns:a16="http://schemas.microsoft.com/office/drawing/2014/main" id="{5ABE0216-73EB-4A85-9D4E-4816AAB6A0DF}"/>
              </a:ext>
            </a:extLst>
          </p:cNvPr>
          <p:cNvSpPr>
            <a:spLocks xmlns:a="http://schemas.openxmlformats.org/drawingml/2006/main" noGrp="1"/>
          </p:cNvSpPr>
          <p:nvPr/>
        </p:nvSpPr>
        <p:spPr>
          <a:xfrm xmlns:a="http://schemas.openxmlformats.org/drawingml/2006/main">
            <a:off x="390525" y="2105025"/>
            <a:ext cx="238125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C6B43"/>
                </a:solidFill>
                <a:latin typeface="Arial"/>
                <a:ea typeface="Arial"/>
                <a:cs typeface="Arial"/>
              </a:defRPr>
            </a:pPr>
            <a:r>
              <a:t>LEARN</a:t>
            </a:r>
          </a:p>
        </p:txBody>
      </p:sp>
      <p:sp>
        <p:nvSpPr>
          <p:cNvPr id="3" name="demo-copy-1">
            <a:extLst xmlns:a="http://schemas.openxmlformats.org/drawingml/2006/main">
              <a:ext uri="{FF2B5EF4-FFF2-40B4-BE49-F238E27FC236}">
                <a16:creationId xmlns:a16="http://schemas.microsoft.com/office/drawing/2014/main" id="{AD79B420-11AA-4A6E-990B-2603C8137945}"/>
              </a:ext>
            </a:extLst>
          </p:cNvPr>
          <p:cNvSpPr>
            <a:spLocks xmlns:a="http://schemas.openxmlformats.org/drawingml/2006/main" noGrp="1"/>
          </p:cNvSpPr>
          <p:nvPr/>
        </p:nvSpPr>
        <p:spPr>
          <a:xfrm xmlns:a="http://schemas.openxmlformats.org/drawingml/2006/main">
            <a:off x="390525" y="2505075"/>
            <a:ext cx="381000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F6368"/>
                </a:solidFill>
                <a:latin typeface="Arial"/>
                <a:ea typeface="Arial"/>
                <a:cs typeface="Arial"/>
              </a:defRPr>
            </a:pPr>
            <a:r>
              <a:t>A single sentence becomes preference memory.</a:t>
            </a:r>
          </a:p>
        </p:txBody>
      </p:sp>
      <p:sp>
        <p:nvSpPr>
          <p:cNvPr id="4" name="demo-step-2">
            <a:extLst xmlns:a="http://schemas.openxmlformats.org/drawingml/2006/main">
              <a:ext uri="{FF2B5EF4-FFF2-40B4-BE49-F238E27FC236}">
                <a16:creationId xmlns:a16="http://schemas.microsoft.com/office/drawing/2014/main" id="{209C6E05-F1A8-4252-A2D3-78A922FF4B1A}"/>
              </a:ext>
            </a:extLst>
          </p:cNvPr>
          <p:cNvSpPr>
            <a:spLocks xmlns:a="http://schemas.openxmlformats.org/drawingml/2006/main" noGrp="1"/>
          </p:cNvSpPr>
          <p:nvPr/>
        </p:nvSpPr>
        <p:spPr>
          <a:xfrm xmlns:a="http://schemas.openxmlformats.org/drawingml/2006/main">
            <a:off x="390525" y="3533775"/>
            <a:ext cx="238125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C6B43"/>
                </a:solidFill>
                <a:latin typeface="Arial"/>
                <a:ea typeface="Arial"/>
                <a:cs typeface="Arial"/>
              </a:defRPr>
            </a:pPr>
            <a:r>
              <a:t>RERANK</a:t>
            </a:r>
          </a:p>
        </p:txBody>
      </p:sp>
      <p:sp>
        <p:nvSpPr>
          <p:cNvPr id="5" name="demo-copy-2">
            <a:extLst xmlns:a="http://schemas.openxmlformats.org/drawingml/2006/main">
              <a:ext uri="{FF2B5EF4-FFF2-40B4-BE49-F238E27FC236}">
                <a16:creationId xmlns:a16="http://schemas.microsoft.com/office/drawing/2014/main" id="{88695BE0-0EE4-4997-90CC-759371885391}"/>
              </a:ext>
            </a:extLst>
          </p:cNvPr>
          <p:cNvSpPr>
            <a:spLocks xmlns:a="http://schemas.openxmlformats.org/drawingml/2006/main" noGrp="1"/>
          </p:cNvSpPr>
          <p:nvPr/>
        </p:nvSpPr>
        <p:spPr>
          <a:xfrm xmlns:a="http://schemas.openxmlformats.org/drawingml/2006/main">
            <a:off x="390525" y="3933825"/>
            <a:ext cx="381000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F6368"/>
                </a:solidFill>
                <a:latin typeface="Arial"/>
                <a:ea typeface="Arial"/>
                <a:cs typeface="Arial"/>
              </a:defRPr>
            </a:pPr>
            <a:r>
              <a:t>Every feasible place is scored again.</a:t>
            </a:r>
          </a:p>
        </p:txBody>
      </p:sp>
      <p:sp>
        <p:nvSpPr>
          <p:cNvPr id="6" name="demo-step-3">
            <a:extLst xmlns:a="http://schemas.openxmlformats.org/drawingml/2006/main">
              <a:ext uri="{FF2B5EF4-FFF2-40B4-BE49-F238E27FC236}">
                <a16:creationId xmlns:a16="http://schemas.microsoft.com/office/drawing/2014/main" id="{48F81FA4-3FDE-47F8-89BD-DEA436078410}"/>
              </a:ext>
            </a:extLst>
          </p:cNvPr>
          <p:cNvSpPr>
            <a:spLocks xmlns:a="http://schemas.openxmlformats.org/drawingml/2006/main" noGrp="1"/>
          </p:cNvSpPr>
          <p:nvPr/>
        </p:nvSpPr>
        <p:spPr>
          <a:xfrm xmlns:a="http://schemas.openxmlformats.org/drawingml/2006/main">
            <a:off x="390525" y="4962525"/>
            <a:ext cx="238125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C6B43"/>
                </a:solidFill>
                <a:latin typeface="Arial"/>
                <a:ea typeface="Arial"/>
                <a:cs typeface="Arial"/>
              </a:defRPr>
            </a:pPr>
            <a:r>
              <a:t>INTERVENE</a:t>
            </a:r>
          </a:p>
        </p:txBody>
      </p:sp>
      <p:sp>
        <p:nvSpPr>
          <p:cNvPr id="7" name="demo-copy-3">
            <a:extLst xmlns:a="http://schemas.openxmlformats.org/drawingml/2006/main">
              <a:ext uri="{FF2B5EF4-FFF2-40B4-BE49-F238E27FC236}">
                <a16:creationId xmlns:a16="http://schemas.microsoft.com/office/drawing/2014/main" id="{465EE70F-2F3B-43A9-8DDC-2B48DF2426B0}"/>
              </a:ext>
            </a:extLst>
          </p:cNvPr>
          <p:cNvSpPr>
            <a:spLocks xmlns:a="http://schemas.openxmlformats.org/drawingml/2006/main" noGrp="1"/>
          </p:cNvSpPr>
          <p:nvPr/>
        </p:nvSpPr>
        <p:spPr>
          <a:xfrm xmlns:a="http://schemas.openxmlformats.org/drawingml/2006/main">
            <a:off x="390525" y="5362575"/>
            <a:ext cx="381000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F6368"/>
                </a:solidFill>
                <a:latin typeface="Arial"/>
                <a:ea typeface="Arial"/>
                <a:cs typeface="Arial"/>
              </a:defRPr>
            </a:pPr>
            <a:r>
              <a:t>Speak only when switching is worth it.</a:t>
            </a:r>
          </a:p>
        </p:txBody>
      </p:sp>
      <p:sp>
        <p:nvSpPr>
          <p:cNvPr id="8" name="demo-frame">
            <a:extLst xmlns:a="http://schemas.openxmlformats.org/drawingml/2006/main">
              <a:ext uri="{FF2B5EF4-FFF2-40B4-BE49-F238E27FC236}">
                <a16:creationId xmlns:a16="http://schemas.microsoft.com/office/drawing/2014/main" id="{9CABBA09-4586-4772-8B52-4C43CC65E95B}"/>
              </a:ext>
            </a:extLst>
          </p:cNvPr>
          <p:cNvSpPr>
            <a:spLocks xmlns:a="http://schemas.openxmlformats.org/drawingml/2006/main" noGrp="1"/>
          </p:cNvSpPr>
          <p:nvPr/>
        </p:nvSpPr>
        <p:spPr>
          <a:xfrm xmlns:a="http://schemas.openxmlformats.org/drawingml/2006/main">
            <a:off x="4819650" y="1762125"/>
            <a:ext cx="228600" cy="228600"/>
          </a:xfrm>
          <a:prstGeom xmlns:a="http://schemas.openxmlformats.org/drawingml/2006/main" prst="roundRect">
            <a:avLst>
              <a:gd name="adj" fmla="val 33333"/>
            </a:avLst>
          </a:prstGeom>
          <a:solidFill xmlns:a="http://schemas.openxmlformats.org/drawingml/2006/main">
            <a:srgbClr val="09110D"/>
          </a:solidFill>
          <a:ln xmlns:a="http://schemas.openxmlformats.org/drawingml/2006/main" w="19050">
            <a:solidFill>
              <a:srgbClr val="1D2A22"/>
            </a:solidFill>
            <a:prstDash val="solid"/>
          </a:ln>
        </p:spPr>
      </p:sp>
      <p:sp>
        <p:nvSpPr>
          <p:cNvPr id="9" name="demo-badge">
            <a:extLst xmlns:a="http://schemas.openxmlformats.org/drawingml/2006/main">
              <a:ext uri="{FF2B5EF4-FFF2-40B4-BE49-F238E27FC236}">
                <a16:creationId xmlns:a16="http://schemas.microsoft.com/office/drawing/2014/main" id="{2DACD0D9-1805-44D9-8060-000826016195}"/>
              </a:ext>
            </a:extLst>
          </p:cNvPr>
          <p:cNvSpPr>
            <a:spLocks xmlns:a="http://schemas.openxmlformats.org/drawingml/2006/main" noGrp="1"/>
          </p:cNvSpPr>
          <p:nvPr/>
        </p:nvSpPr>
        <p:spPr>
          <a:xfrm xmlns:a="http://schemas.openxmlformats.org/drawingml/2006/main">
            <a:off x="10639425" y="5848350"/>
            <a:ext cx="11430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0C6B43"/>
                </a:solidFill>
                <a:latin typeface="Arial"/>
                <a:ea typeface="Arial"/>
                <a:cs typeface="Arial"/>
              </a:defRPr>
            </a:pPr>
            <a:r>
              <a:t>DEMO</a:t>
            </a:r>
          </a:p>
        </p:txBody>
      </p:sp>
      <p:sp>
        <p:nvSpPr>
          <p:cNvPr id="10" name="footer-5">
            <a:extLst xmlns:a="http://schemas.openxmlformats.org/drawingml/2006/main">
              <a:ext uri="{FF2B5EF4-FFF2-40B4-BE49-F238E27FC236}">
                <a16:creationId xmlns:a16="http://schemas.microsoft.com/office/drawing/2014/main" id="{08276540-71DB-4511-A933-299865E5DC02}"/>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50" b="0">
                <a:solidFill>
                  <a:srgbClr val="5F6368"/>
                </a:solidFill>
                <a:latin typeface="Arial"/>
                <a:ea typeface="Arial"/>
                <a:cs typeface="Arial"/>
              </a:defRPr>
            </a:pPr>
            <a:r>
              <a:t>05</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9353b09f0b04046"/>
          <a:srcRect xmlns:a="http://schemas.openxmlformats.org/drawingml/2006/main" l="0" t="1091" r="0" b="1091"/>
          <a:stretch xmlns:a="http://schemas.openxmlformats.org/drawingml/2006/main">
            <a:fillRect l="0" t="0" r="0" b="0"/>
          </a:stretch>
        </p:blipFill>
        <p:spPr>
          <a:xfrm xmlns:a="http://schemas.openxmlformats.org/drawingml/2006/main">
            <a:off x="4914900" y="1857375"/>
            <a:ext cx="6781800" cy="3733800"/>
          </a:xfrm>
          <a:prstGeom xmlns:a="http://schemas.openxmlformats.org/drawingml/2006/main" prst="roundRect">
            <a:avLst>
              <a:gd name="adj" fmla="val 3061"/>
            </a:avLst>
          </a:prstGeom>
        </p:spPr>
      </p:pic>
      <p:sp>
        <p:nvSpPr>
          <p:cNvPr id="12" name="demo-play-circle">
            <a:extLst xmlns:a="http://schemas.openxmlformats.org/drawingml/2006/main">
              <a:ext uri="{FF2B5EF4-FFF2-40B4-BE49-F238E27FC236}">
                <a16:creationId xmlns:a16="http://schemas.microsoft.com/office/drawing/2014/main" id="{415356EC-15B3-48B2-90BB-BFFFB1CCF415}"/>
              </a:ext>
            </a:extLst>
          </p:cNvPr>
          <p:cNvSpPr>
            <a:spLocks xmlns:a="http://schemas.openxmlformats.org/drawingml/2006/main" noGrp="1"/>
          </p:cNvSpPr>
          <p:nvPr/>
        </p:nvSpPr>
        <p:spPr>
          <a:xfrm xmlns:a="http://schemas.openxmlformats.org/drawingml/2006/main">
            <a:off x="7867650" y="3143250"/>
            <a:ext cx="876300" cy="876300"/>
          </a:xfrm>
          <a:prstGeom xmlns:a="http://schemas.openxmlformats.org/drawingml/2006/main" prst="ellipse">
            <a:avLst/>
          </a:prstGeom>
          <a:solidFill xmlns:a="http://schemas.openxmlformats.org/drawingml/2006/main">
            <a:srgbClr val="8AF2B5"/>
          </a:solidFill>
          <a:ln xmlns:a="http://schemas.openxmlformats.org/drawingml/2006/main" w="0">
            <a:solidFill>
              <a:srgbClr val="8AF2B5"/>
            </a:solidFill>
            <a:prstDash val="solid"/>
          </a:ln>
        </p:spPr>
      </p:sp>
      <p:sp>
        <p:nvSpPr>
          <p:cNvPr id="13" name="demo-play">
            <a:extLst xmlns:a="http://schemas.openxmlformats.org/drawingml/2006/main">
              <a:ext uri="{FF2B5EF4-FFF2-40B4-BE49-F238E27FC236}">
                <a16:creationId xmlns:a16="http://schemas.microsoft.com/office/drawing/2014/main" id="{AE787159-480E-41CA-ABCA-2FA1DB8E4418}"/>
              </a:ext>
            </a:extLst>
          </p:cNvPr>
          <p:cNvSpPr>
            <a:spLocks xmlns:a="http://schemas.openxmlformats.org/drawingml/2006/main" noGrp="1"/>
          </p:cNvSpPr>
          <p:nvPr/>
        </p:nvSpPr>
        <p:spPr>
          <a:xfrm xmlns:a="http://schemas.openxmlformats.org/drawingml/2006/main">
            <a:off x="8067675" y="327660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050505"/>
                </a:solidFill>
              </a:defRPr>
            </a:pPr>
            <a:r>
              <a:rPr sz="2700" b="1">
                <a:solidFill>
                  <a:srgbClr val="050505"/>
                </a:solidFill>
              </a:rPr>
              <a:t>▶</a:t>
            </a:r>
          </a:p>
        </p:txBody>
      </p:sp>
    </p:spTree>
    <p:extLst>
      <p:ext uri="{BB962C8B-B14F-4D97-AF65-F5344CB8AC3E}">
        <p14:creationId xmlns:p14="http://schemas.microsoft.com/office/powerpoint/2010/main" val="6720937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losing-accent">
            <a:extLst xmlns:a="http://schemas.openxmlformats.org/drawingml/2006/main">
              <a:ext uri="{FF2B5EF4-FFF2-40B4-BE49-F238E27FC236}">
                <a16:creationId xmlns:a16="http://schemas.microsoft.com/office/drawing/2014/main" id="{B86EED1C-FC70-47FD-8050-64567468052C}"/>
              </a:ext>
            </a:extLst>
          </p:cNvPr>
          <p:cNvSpPr>
            <a:spLocks xmlns:a="http://schemas.openxmlformats.org/drawingml/2006/main" noGrp="1"/>
          </p:cNvSpPr>
          <p:nvPr/>
        </p:nvSpPr>
        <p:spPr>
          <a:xfrm xmlns:a="http://schemas.openxmlformats.org/drawingml/2006/main">
            <a:off x="390525" y="390525"/>
            <a:ext cx="228600" cy="228600"/>
          </a:xfrm>
          <a:prstGeom xmlns:a="http://schemas.openxmlformats.org/drawingml/2006/main" prst="rect">
            <a:avLst/>
          </a:prstGeom>
          <a:solidFill xmlns:a="http://schemas.openxmlformats.org/drawingml/2006/main">
            <a:srgbClr val="8AF2B5"/>
          </a:solidFill>
        </p:spPr>
      </p:sp>
      <p:sp>
        <p:nvSpPr>
          <p:cNvPr id="2" name="closing-brand">
            <a:extLst xmlns:a="http://schemas.openxmlformats.org/drawingml/2006/main">
              <a:ext uri="{FF2B5EF4-FFF2-40B4-BE49-F238E27FC236}">
                <a16:creationId xmlns:a16="http://schemas.microsoft.com/office/drawing/2014/main" id="{1B605D60-FB2B-4395-82A8-BD36C42DCDF2}"/>
              </a:ext>
            </a:extLst>
          </p:cNvPr>
          <p:cNvSpPr>
            <a:spLocks xmlns:a="http://schemas.openxmlformats.org/drawingml/2006/main" noGrp="1"/>
          </p:cNvSpPr>
          <p:nvPr/>
        </p:nvSpPr>
        <p:spPr>
          <a:xfrm xmlns:a="http://schemas.openxmlformats.org/drawingml/2006/main">
            <a:off x="390525" y="600075"/>
            <a:ext cx="28575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C6B43"/>
                </a:solidFill>
                <a:latin typeface="Arial"/>
                <a:ea typeface="Arial"/>
                <a:cs typeface="Arial"/>
              </a:defRPr>
            </a:pPr>
            <a:r>
              <a:t>GREEDYTRIP</a:t>
            </a:r>
          </a:p>
        </p:txBody>
      </p:sp>
      <p:sp>
        <p:nvSpPr>
          <p:cNvPr id="3" name="closing-title">
            <a:extLst xmlns:a="http://schemas.openxmlformats.org/drawingml/2006/main">
              <a:ext uri="{FF2B5EF4-FFF2-40B4-BE49-F238E27FC236}">
                <a16:creationId xmlns:a16="http://schemas.microsoft.com/office/drawing/2014/main" id="{3DC153E3-7F4B-48F9-8D06-4540E0C74C66}"/>
              </a:ext>
            </a:extLst>
          </p:cNvPr>
          <p:cNvSpPr>
            <a:spLocks xmlns:a="http://schemas.openxmlformats.org/drawingml/2006/main" noGrp="1"/>
          </p:cNvSpPr>
          <p:nvPr/>
        </p:nvSpPr>
        <p:spPr>
          <a:xfrm xmlns:a="http://schemas.openxmlformats.org/drawingml/2006/main">
            <a:off x="390525" y="1943100"/>
            <a:ext cx="9906000" cy="276225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5700" b="1">
                <a:solidFill>
                  <a:srgbClr val="050505"/>
                </a:solidFill>
                <a:latin typeface="Arial"/>
                <a:ea typeface="Arial"/>
                <a:cs typeface="Arial"/>
              </a:defRPr>
            </a:pPr>
            <a:r>
              <a:t>No itinerary.
One best next move.</a:t>
            </a:r>
          </a:p>
        </p:txBody>
      </p:sp>
      <p:sp>
        <p:nvSpPr>
          <p:cNvPr id="4" name="closing-subtitle">
            <a:extLst xmlns:a="http://schemas.openxmlformats.org/drawingml/2006/main">
              <a:ext uri="{FF2B5EF4-FFF2-40B4-BE49-F238E27FC236}">
                <a16:creationId xmlns:a16="http://schemas.microsoft.com/office/drawing/2014/main" id="{22D6D9E5-6D11-4F73-964B-EF1F204931CD}"/>
              </a:ext>
            </a:extLst>
          </p:cNvPr>
          <p:cNvSpPr>
            <a:spLocks xmlns:a="http://schemas.openxmlformats.org/drawingml/2006/main" noGrp="1"/>
          </p:cNvSpPr>
          <p:nvPr/>
        </p:nvSpPr>
        <p:spPr>
          <a:xfrm xmlns:a="http://schemas.openxmlformats.org/drawingml/2006/main">
            <a:off x="390525" y="5057775"/>
            <a:ext cx="85725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F6368"/>
                </a:solidFill>
                <a:latin typeface="Arial"/>
                <a:ea typeface="Arial"/>
                <a:cs typeface="Arial"/>
              </a:defRPr>
            </a:pPr>
            <a:r>
              <a:t>Continuously re-optimized as reality changes.</a:t>
            </a:r>
          </a:p>
        </p:txBody>
      </p:sp>
      <p:sp>
        <p:nvSpPr>
          <p:cNvPr id="5" name="closing-tagline">
            <a:extLst xmlns:a="http://schemas.openxmlformats.org/drawingml/2006/main">
              <a:ext uri="{FF2B5EF4-FFF2-40B4-BE49-F238E27FC236}">
                <a16:creationId xmlns:a16="http://schemas.microsoft.com/office/drawing/2014/main" id="{FE5EFBF0-FB78-4759-A596-C4CB198C0067}"/>
              </a:ext>
            </a:extLst>
          </p:cNvPr>
          <p:cNvSpPr>
            <a:spLocks xmlns:a="http://schemas.openxmlformats.org/drawingml/2006/main" noGrp="1"/>
          </p:cNvSpPr>
          <p:nvPr/>
        </p:nvSpPr>
        <p:spPr>
          <a:xfrm xmlns:a="http://schemas.openxmlformats.org/drawingml/2006/main">
            <a:off x="390525" y="5772150"/>
            <a:ext cx="6286500" cy="3333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C6B43"/>
                </a:solidFill>
                <a:latin typeface="Arial"/>
                <a:ea typeface="Arial"/>
                <a:cs typeface="Arial"/>
              </a:defRPr>
            </a:pPr>
            <a:r>
              <a:t>Travel like a greedy search.</a:t>
            </a:r>
          </a:p>
        </p:txBody>
      </p:sp>
      <p:sp>
        <p:nvSpPr>
          <p:cNvPr id="6" name="footer-6">
            <a:extLst xmlns:a="http://schemas.openxmlformats.org/drawingml/2006/main">
              <a:ext uri="{FF2B5EF4-FFF2-40B4-BE49-F238E27FC236}">
                <a16:creationId xmlns:a16="http://schemas.microsoft.com/office/drawing/2014/main" id="{BEE0C348-FA52-4078-B311-FCD7F53552A8}"/>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50" b="0">
                <a:solidFill>
                  <a:srgbClr val="5F6368"/>
                </a:solidFill>
                <a:latin typeface="Arial"/>
                <a:ea typeface="Arial"/>
                <a:cs typeface="Arial"/>
              </a:defRPr>
            </a:pPr>
            <a:r>
              <a:t>06</a:t>
            </a:r>
          </a:p>
        </p:txBody>
      </p:sp>
    </p:spTree>
    <p:extLst>
      <p:ext uri="{BB962C8B-B14F-4D97-AF65-F5344CB8AC3E}">
        <p14:creationId xmlns:p14="http://schemas.microsoft.com/office/powerpoint/2010/main" val="9357336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2026-07-18T22:10:55.1540000Z</dcterms:created>
  <dcterms:modified xsi:type="dcterms:W3CDTF">2026-07-18T22:10:55.1540000Z</dcterms:modified>
</coreProperties>
</file>